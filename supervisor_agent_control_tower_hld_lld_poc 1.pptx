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Supervisor Agent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Tower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2743200"/>
            <a:ext cx="6309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5FF"/>
                </a:solidFill>
              </a:rPr>
              <a:t>POC HLD + LLD design for orchestrating, tracking, supervising, and validating four AI agents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3657600"/>
            <a:ext cx="96012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70332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Streamlit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1783080" y="3657600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37033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PostgreSQL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063240" y="3657600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37033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gpt-5-mini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343400" y="3657600"/>
            <a:ext cx="2103120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370332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Rules + Judge + Synthesizer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7315200" y="11430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6002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1272" y="1691640"/>
            <a:ext cx="268833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Orchestrator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2103120"/>
            <a:ext cx="0" cy="4114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35240" y="260604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2697480"/>
            <a:ext cx="12710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Tool Nodes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26880" y="260604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2697480"/>
            <a:ext cx="12710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Rule Engine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66760" y="3154680"/>
            <a:ext cx="0" cy="4114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3154680"/>
            <a:ext cx="0" cy="4114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35240" y="36576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3749040"/>
            <a:ext cx="12710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LLM Judge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326880" y="36576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00032" y="3749040"/>
            <a:ext cx="12710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Final Verdict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35440" y="4206240"/>
            <a:ext cx="0" cy="4114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01000" y="470001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4791456"/>
            <a:ext cx="232257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PostgreSQL Audit Store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6172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5EA"/>
                </a:solidFill>
              </a:rPr>
              <a:t>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Supervisor Agent does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A single control layer for validation and governance across four existing AI agents.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27048"/>
            <a:ext cx="26791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1. Orchestrates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" y="1828800"/>
            <a:ext cx="267919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User selects a stored record only. The Supervisor auto-detects agent/tool from source system, record type, metadata, and payload keys.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41732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527048"/>
            <a:ext cx="26791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2. Validates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52544" y="1828800"/>
            <a:ext cx="267919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Every run combines deterministic domain rules, gpt-5-mini LLM Judge, and deterministic final synthesis into PASS, WARNING, or FAIL.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772400" y="1417320"/>
            <a:ext cx="2971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417320"/>
            <a:ext cx="54864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1527048"/>
            <a:ext cx="26791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3. Governs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18704" y="1828800"/>
            <a:ext cx="267919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34155"/>
                </a:solidFill>
              </a:rPr>
              <a:t>Persists routing, rule results, LLM judgement, final verdict, and audit metadata in PostgreSQL for review history.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22960" y="406908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POC guardrail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60704" y="461772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44"/>
                </a:solidFill>
              </a:rPr>
              <a:t>The Supervisor validates records already stored in PostgreSQL. It does not create PRs, deploy infrastructure, resize resources, or write to Jira/Teams/GitHub/Azure during the POC.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supervised agents in current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Each specialized tool node validates one domain and returns structured findings.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98448"/>
            <a:ext cx="54864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08176"/>
            <a:ext cx="49651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Pipeline Troubleshooting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709928"/>
            <a:ext cx="496519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UAT Testing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Validation focus: CI/CD failure RCA, log evidence, safe remediation, PR structure, Teams notification quality.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736592" y="17922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8379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PIPELINE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291072" y="1298448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298448"/>
            <a:ext cx="54864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408176"/>
            <a:ext cx="49651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Infrastructure Provisioning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7376" y="1709928"/>
            <a:ext cx="496519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Development / UAT planning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Validation focus: Design parsing, IaC quality, naming/tag/security guardrails, human approval, PR structure.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0369296" y="1792224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69296" y="18379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INFRA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703320"/>
            <a:ext cx="54864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13048"/>
            <a:ext cx="49651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InfraScaling &amp; Cost Optimization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114800"/>
            <a:ext cx="496519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UAT Active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Validation focus: Azure usage, idle/oversized resources, savings credibility, visualization data, lifecycle alerts.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736592" y="4197096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424281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FINOPS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291072" y="37033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3703320"/>
            <a:ext cx="54864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813048"/>
            <a:ext cx="49651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AI-Driven Project Management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37376" y="4114800"/>
            <a:ext cx="4965192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POC / phased release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Validation focus: Jira story quality, sprint status alignment, blockers, velocity/capacity insights, repository alignment.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0369296" y="4197096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9296" y="424281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PROJECT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HLD: Supervisor Control Tower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One Streamlit app, one orchestration service layer, four validation nodes, one persistence layer.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743200"/>
            <a:ext cx="10972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06240" y="2743200"/>
            <a:ext cx="8229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32320" y="2743200"/>
            <a:ext cx="914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75520" y="2743200"/>
            <a:ext cx="9144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429000"/>
            <a:ext cx="0" cy="86868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31720"/>
            <a:ext cx="1179576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Google OIDC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084832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2176272"/>
            <a:ext cx="1453896" cy="1179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Streamlit UI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Overview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Run Validation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History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Glossary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2880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276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B1F44"/>
                </a:solidFill>
              </a:rPr>
              <a:t>Supervisor Service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074920" y="2057400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2148840"/>
            <a:ext cx="200253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Orchestrator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74920" y="2670048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2761488"/>
            <a:ext cx="200253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Tool Nodes + Rule Engine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4920" y="3273552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3364992"/>
            <a:ext cx="200253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LLM Judge + Synthesizer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83880" y="187452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1965960"/>
            <a:ext cx="154533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gpt-5-mini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LLM Judge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Routing fallback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0835640" y="1874520"/>
            <a:ext cx="960120" cy="173736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08792" y="1965960"/>
            <a:ext cx="813816" cy="1591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PostgreSQL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records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runs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F172A"/>
                </a:solidFill>
              </a:rPr>
              <a:t>audit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709160" y="4498848"/>
            <a:ext cx="2880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4590288"/>
            <a:ext cx="2734056" cy="722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</a:rPr>
              <a:t>Specialized Tool Nodes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F172A"/>
                </a:solidFill>
              </a:rPr>
              <a:t>Pipeline | Infra | FinOps | PM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94944" y="544068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605272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No live external mutations in POC: no GitHub PR creation, no Azure changes, no Jira writes, no Teams sends.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validation run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The application records every intermediate decision and final result.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3063240"/>
            <a:ext cx="466344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90088" y="3063240"/>
            <a:ext cx="466344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62856" y="3063240"/>
            <a:ext cx="466344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35624" y="3063240"/>
            <a:ext cx="466344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08392" y="3063240"/>
            <a:ext cx="466344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281160" y="3063240"/>
            <a:ext cx="466344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0392" y="18745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00253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251460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5146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624328"/>
            <a:ext cx="9418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44"/>
                </a:solidFill>
              </a:rPr>
              <a:t>Sign 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" y="2926080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Google OIDC or DEMO_AUTH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423160" y="18745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00253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251460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25146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9424" y="2624328"/>
            <a:ext cx="9418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44"/>
                </a:solidFill>
              </a:rPr>
              <a:t>Select record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9424" y="2926080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No agent/tool selector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995928" y="18745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95928" y="200253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75888" y="251460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75888" y="25146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624328"/>
            <a:ext cx="9418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44"/>
                </a:solidFill>
              </a:rPr>
              <a:t>Route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22192" y="2926080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Deterministic + LLM fallback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568696" y="18745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200253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48656" y="251460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8656" y="25146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624328"/>
            <a:ext cx="9418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44"/>
                </a:solidFill>
              </a:rPr>
              <a:t>Rule checks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94960" y="2926080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Domain rules continue after failures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141464" y="18745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1464" y="200253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21424" y="251460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21424" y="25146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2624328"/>
            <a:ext cx="9418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44"/>
                </a:solidFill>
              </a:rPr>
              <a:t>LLM Judge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67728" y="2926080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Structured JSON verdict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8714232" y="187452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14232" y="200253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94192" y="251460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94192" y="2514600"/>
            <a:ext cx="54864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0496" y="2624328"/>
            <a:ext cx="9418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44"/>
                </a:solidFill>
              </a:rPr>
              <a:t>Synthesize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540496" y="2926080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Deterministic PASS/WARNING/FAIL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0287000" y="187452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87000" y="200253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966960" y="251460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66960" y="251460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13264" y="2624328"/>
            <a:ext cx="9418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1F44"/>
                </a:solidFill>
              </a:rPr>
              <a:t>Persist + view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113264" y="2926080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History, dashboard, audit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960120" y="4617720"/>
            <a:ext cx="10241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4440" y="48188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1F44"/>
                </a:solidFill>
              </a:rPr>
              <a:t>Execution status is separate from business verdict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4526280" y="481888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RUNNING / COMPLETED / ERROR are operational states. PASS / WARNING / FAIL are validation outcomes.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Orchestrator design: automatic routing only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The user selects a row; the Supervisor selects exactly one tool node or safely rejects unsupported records.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2057400"/>
            <a:ext cx="102412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36592" y="2057400"/>
            <a:ext cx="10058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98080" y="2057400"/>
            <a:ext cx="102412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6928" y="16002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45389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Record context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source + type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metadata + payload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182112" y="16002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691640"/>
            <a:ext cx="145389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Deterministic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pattern match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806440" y="1600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9592" y="1691640"/>
            <a:ext cx="154533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LLM fallback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only if ambiguous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595360" y="16002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1691640"/>
            <a:ext cx="145389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Allowlist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validation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10515600" y="160020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88752" y="1691640"/>
            <a:ext cx="905256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Tool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selected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58368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Routing signals matrix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3547872"/>
            <a:ext cx="2331720" cy="329184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648456"/>
            <a:ext cx="2221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Source system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3154680" y="3547872"/>
            <a:ext cx="2286000" cy="329184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9544" y="3648456"/>
            <a:ext cx="2176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Record type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623560" y="3547872"/>
            <a:ext cx="2514600" cy="329184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78424" y="3648456"/>
            <a:ext cx="2404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Payload keys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8321040" y="3547872"/>
            <a:ext cx="2377440" cy="329184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3648456"/>
            <a:ext cx="2267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Selected tool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658368" y="3877056"/>
            <a:ext cx="23317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959352"/>
            <a:ext cx="222199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github_actions, azure_devops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3154680" y="3877056"/>
            <a:ext cx="2286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9544" y="3959352"/>
            <a:ext cx="21762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pipeline_failure, deployment_failure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5623560" y="3877056"/>
            <a:ext cx="2514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8424" y="3959352"/>
            <a:ext cx="24048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pipeline_run_id, failed_stage, logs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8321040" y="3877056"/>
            <a:ext cx="23774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75904" y="3959352"/>
            <a:ext cx="226771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pipeline_troubleshooting_tool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658368" y="4379976"/>
            <a:ext cx="2331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462272"/>
            <a:ext cx="222199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design_docs, architecture_specs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3154680" y="437997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9544" y="4462272"/>
            <a:ext cx="21762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infra_request, provisioning_plan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5623560" y="4379976"/>
            <a:ext cx="2514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78424" y="4462272"/>
            <a:ext cx="24048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target_env, iac_language, requested_resources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8321040" y="4379976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75904" y="4462272"/>
            <a:ext cx="226771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infrastructure_provisioning_tool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658368" y="4882896"/>
            <a:ext cx="23317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4965192"/>
            <a:ext cx="222199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azure_cost, finops_chat</a:t>
            </a:r>
            <a:endParaRPr lang="en-US" sz="630" dirty="0"/>
          </a:p>
        </p:txBody>
      </p:sp>
      <p:sp>
        <p:nvSpPr>
          <p:cNvPr id="45" name="Shape 43"/>
          <p:cNvSpPr/>
          <p:nvPr/>
        </p:nvSpPr>
        <p:spPr>
          <a:xfrm>
            <a:off x="3154680" y="4882896"/>
            <a:ext cx="2286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9544" y="4965192"/>
            <a:ext cx="21762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cost_optimization, utilization_snapshot</a:t>
            </a:r>
            <a:endParaRPr lang="en-US" sz="630" dirty="0"/>
          </a:p>
        </p:txBody>
      </p:sp>
      <p:sp>
        <p:nvSpPr>
          <p:cNvPr id="47" name="Shape 45"/>
          <p:cNvSpPr/>
          <p:nvPr/>
        </p:nvSpPr>
        <p:spPr>
          <a:xfrm>
            <a:off x="5623560" y="4882896"/>
            <a:ext cx="2514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78424" y="4965192"/>
            <a:ext cx="24048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subscription_id, resource_id, savings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8321040" y="4882896"/>
            <a:ext cx="23774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75904" y="4965192"/>
            <a:ext cx="226771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finops_optimization_tool</a:t>
            </a:r>
            <a:endParaRPr lang="en-US" sz="630" dirty="0"/>
          </a:p>
        </p:txBody>
      </p:sp>
      <p:sp>
        <p:nvSpPr>
          <p:cNvPr id="51" name="Shape 49"/>
          <p:cNvSpPr/>
          <p:nvPr/>
        </p:nvSpPr>
        <p:spPr>
          <a:xfrm>
            <a:off x="658368" y="5385816"/>
            <a:ext cx="2331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5468112"/>
            <a:ext cx="222199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jira, repos</a:t>
            </a:r>
            <a:endParaRPr lang="en-US" sz="630" dirty="0"/>
          </a:p>
        </p:txBody>
      </p:sp>
      <p:sp>
        <p:nvSpPr>
          <p:cNvPr id="53" name="Shape 51"/>
          <p:cNvSpPr/>
          <p:nvPr/>
        </p:nvSpPr>
        <p:spPr>
          <a:xfrm>
            <a:off x="3154680" y="538581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9544" y="5468112"/>
            <a:ext cx="21762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sprint_status, user_story, velocity_insight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5623560" y="5385816"/>
            <a:ext cx="2514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5468112"/>
            <a:ext cx="240487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sprint_id, issue_status, pr_status</a:t>
            </a:r>
            <a:endParaRPr lang="en-US" sz="630" dirty="0"/>
          </a:p>
        </p:txBody>
      </p:sp>
      <p:sp>
        <p:nvSpPr>
          <p:cNvPr id="57" name="Shape 55"/>
          <p:cNvSpPr/>
          <p:nvPr/>
        </p:nvSpPr>
        <p:spPr>
          <a:xfrm>
            <a:off x="8321040" y="5385816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75904" y="5468112"/>
            <a:ext cx="2267712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334155"/>
                </a:solidFill>
              </a:rPr>
              <a:t>project_management_tool</a:t>
            </a:r>
            <a:endParaRPr lang="en-US" sz="630" dirty="0"/>
          </a:p>
        </p:txBody>
      </p:sp>
      <p:sp>
        <p:nvSpPr>
          <p:cNvPr id="59" name="Text 57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Specialized tool nodes and common contract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Tools return structured findings. The final verdict is owned only by the synthesizer.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35608"/>
            <a:ext cx="22219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Pipeline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Troubleshooting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737360"/>
            <a:ext cx="222199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RCA evidence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Safe remediation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PR metadata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Notification checks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447288" y="13258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325880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1435608"/>
            <a:ext cx="22219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Infrastructure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Provisioning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93592" y="1737360"/>
            <a:ext cx="222199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Design mapping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IaC quality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Policy checks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Approval state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236208" y="13258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325880"/>
            <a:ext cx="54864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435608"/>
            <a:ext cx="22219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FinOps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Optimization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82512" y="1737360"/>
            <a:ext cx="222199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Telemetry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Cost data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Savings logic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Actionable advice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9025128" y="13258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25128" y="13258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435608"/>
            <a:ext cx="22219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Project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71432" y="1737360"/>
            <a:ext cx="222199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Story quality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Sprint status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Blockers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Velocity/capacity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1005840" y="3931920"/>
            <a:ext cx="10195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187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Common Tool Result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187952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34155"/>
                </a:solidFill>
              </a:rPr>
              <a:t>tool_code + agent_code + execution_success + summary + rule_results + derived_metrics + evidence + warnings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1280160" y="4617720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 tool node never mutates external systems and never creates the final application verdict.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LLD: modular Python project organization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Small modules keep UI, orchestration, rules, LLM calls, and SQL persistence testable.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416052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supervisor_control_tower/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app.py                       # Streamlit shell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ui/pages/                    # Overview, Run, History, Glossary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auth/google_auth.py          # Google OIDC + demo mode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core/settings.py             # env validation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domain/models.py             # Pydantic contracts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services/orchestrator.py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services/validation_service.py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services/final_synthesizer.py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tools/{pipeline,infra,finops,pm}.py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rules/engine.py + rule_sets.py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llm/judge.py + client.py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repositories/*.py            # SQL only here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db/schema.sql + seed.py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tests/unit + tests/integration</a:t>
            </a:r>
            <a:endParaRPr lang="en-US" sz="670" dirty="0"/>
          </a:p>
        </p:txBody>
      </p:sp>
      <p:sp>
        <p:nvSpPr>
          <p:cNvPr id="7" name="Shape 5"/>
          <p:cNvSpPr/>
          <p:nvPr/>
        </p:nvSpPr>
        <p:spPr>
          <a:xfrm>
            <a:off x="6537960" y="1828800"/>
            <a:ext cx="0" cy="47548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37960" y="2880360"/>
            <a:ext cx="0" cy="48463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0" y="3913632"/>
            <a:ext cx="0" cy="45720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15000" y="13258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8152" y="1417320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Streamlit pages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15000" y="2359152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8152" y="2450592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Validation service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15000" y="3401568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3493008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Domain services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15000" y="4407408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88152" y="4498848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Repository layer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09560" y="13258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1325880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5864" y="1435608"/>
            <a:ext cx="327355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Key principle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55864" y="1737360"/>
            <a:ext cx="32735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UI pages never contain raw SQL. LLM never writes to PostgreSQL. Final verdict is deterministic Python.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09560" y="26517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265176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5864" y="2761488"/>
            <a:ext cx="327355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Testability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55864" y="3063240"/>
            <a:ext cx="32735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Unit tests cover routing, rules, LLM JSON validation, confidence formula, and final synthesis.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09560" y="397764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9560" y="397764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55864" y="4087368"/>
            <a:ext cx="327355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POC simplicity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55864" y="4389120"/>
            <a:ext cx="327355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No queues, no schedulers, no vector DB, no Kubernetes, no live external mutations.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LLD: PostgreSQL data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Minimal schema with JSONB payloads and full auditability for every validation run.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057400"/>
            <a:ext cx="10058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989320" y="2057400"/>
            <a:ext cx="731520" cy="-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89320" y="2057400"/>
            <a:ext cx="73152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89320" y="2057400"/>
            <a:ext cx="731520" cy="1371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2057400"/>
            <a:ext cx="731520" cy="2377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4343400"/>
            <a:ext cx="1051560" cy="-1645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14173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508760"/>
            <a:ext cx="2002536" cy="11338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validation_record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external_reference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source_system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record_type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payload JSONB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metadata JSONB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4360" y="37490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840480"/>
            <a:ext cx="2002536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application_user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google_subject_id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email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last_login_at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94760" y="141732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1508760"/>
            <a:ext cx="2048256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validation_run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execution_status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detected_agent_code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selected_tool_code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final_verdict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final_confidence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error_message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097280"/>
            <a:ext cx="200253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rule_result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severity + passed + evidence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766560" y="20574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2148840"/>
            <a:ext cx="200253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llm_judgement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model + verdict + findings JSONB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6766560" y="31089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3200400"/>
            <a:ext cx="200253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audit_event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event_type + details JSONB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766560" y="41605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4251960"/>
            <a:ext cx="2002536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agent_registry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agent_code + tool_code + status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555480" y="137160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55480" y="1371600"/>
            <a:ext cx="54864" cy="356616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1784" y="1481328"/>
            <a:ext cx="16276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Indexes + constraints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01784" y="1783080"/>
            <a:ext cx="1627632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34155"/>
                </a:solidFill>
              </a:rPr>
              <a:t>Unique agent_code/tool_code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334155"/>
                </a:solidFill>
              </a:rPr>
              <a:t>FKs for run results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334155"/>
                </a:solidFill>
              </a:rPr>
              <a:t>Check constraints for verdict/status/severity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334155"/>
                </a:solidFill>
              </a:rPr>
              <a:t>JSONB for flexible POC record payloads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334155"/>
                </a:solidFill>
              </a:rPr>
              <a:t>Created/completed timestamps on every run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verdict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Rules and LLM judgement inform the result, but final synthesis remains deterministic and unit-testable.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606040"/>
            <a:ext cx="155448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48840" y="3840480"/>
            <a:ext cx="155448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3154680"/>
            <a:ext cx="1554480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21488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40280"/>
            <a:ext cx="1591056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Deterministic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rule results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520440"/>
            <a:ext cx="1591056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LLM Judge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verdict + confidence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242316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2514600"/>
            <a:ext cx="2551176" cy="1362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Final Synthesizer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critical failures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severity-weighted score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LLM confidence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data completeness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0" y="2487168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2578608"/>
            <a:ext cx="813816" cy="1179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2487168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2578608"/>
            <a:ext cx="813816" cy="1179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WARNING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41280" y="2487168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14432" y="2578608"/>
            <a:ext cx="813816" cy="11795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FAIL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709160"/>
            <a:ext cx="54864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818888"/>
            <a:ext cx="29992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PASS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" y="5120640"/>
            <a:ext cx="299923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No critical/high failures, LLM PASS, final confidence &gt;= 0.80.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434840" y="47091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470916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4818888"/>
            <a:ext cx="29992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WARNING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81144" y="5120640"/>
            <a:ext cx="299923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No fail condition, but medium/high issue, LLM WARNING, or confidence 0.60-0.80.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83880" y="47091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470916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0184" y="4818888"/>
            <a:ext cx="29992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FAIL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30184" y="5120640"/>
            <a:ext cx="299923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Any critical rule failure, LLM FAIL, impossible evaluation, tool error, or confidence &lt; 0.60.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information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A minimal enterprise UI designed around record selection, validation, and traceability.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920240" cy="4389120"/>
          </a:xfrm>
          <a:prstGeom prst="roundRect">
            <a:avLst>
              <a:gd name="adj" fmla="val 3810"/>
            </a:avLst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727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Sidebar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2029968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12264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Overview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932688" y="2414016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96312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Run Validation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32688" y="27980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80360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Review History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932688" y="3182112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64408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Glossary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932688" y="3566160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48456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POC Env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932688" y="3950208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32504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System Status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932688" y="4334256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16552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Signed-in user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32688" y="471830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800600"/>
            <a:ext cx="1261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Logout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108960" y="1325880"/>
            <a:ext cx="79552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1325880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1435608"/>
            <a:ext cx="76626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1F44"/>
                </a:solidFill>
              </a:rPr>
              <a:t>Overview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3255264" y="1737360"/>
            <a:ext cx="7662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KPI cards: total validations, pass rate, fail rate, agents supported. Recent activity table only.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08960" y="2377440"/>
            <a:ext cx="79552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2377440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2487168"/>
            <a:ext cx="76626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1F44"/>
                </a:solidFill>
              </a:rPr>
              <a:t>Run Validation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3255264" y="2788920"/>
            <a:ext cx="7662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Data row dropdown, optional comments, run button, agent auto-resolution, result panel.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08960" y="3429000"/>
            <a:ext cx="79552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3429000"/>
            <a:ext cx="54864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55264" y="3538728"/>
            <a:ext cx="76626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1F44"/>
                </a:solidFill>
              </a:rPr>
              <a:t>Review History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255264" y="3840480"/>
            <a:ext cx="7662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Filterable run table and read-only run detail with routing, rules, LLM, final result.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108960" y="4480560"/>
            <a:ext cx="79552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0" y="4480560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55264" y="4590288"/>
            <a:ext cx="76626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1F44"/>
                </a:solidFill>
              </a:rPr>
              <a:t>Glossary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3255264" y="4892040"/>
            <a:ext cx="7662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Capabilities and POC boundaries: automatic routing, rules + LLM, deterministic synthesis, no live actions.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Mockup: Overview page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Default landing page shows executive KPIs and recent validations from PostgreSQL.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107442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1645920" cy="5074920"/>
          </a:xfrm>
          <a:prstGeom prst="rect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447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Control Tower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" y="187452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956816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FFFFFF"/>
                </a:solidFill>
              </a:rPr>
              <a:t>Overview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932688" y="228600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368296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FFFFFF"/>
                </a:solidFill>
              </a:rPr>
              <a:t>Run Validation</a:t>
            </a:r>
            <a:endParaRPr lang="en-US" sz="580" dirty="0"/>
          </a:p>
        </p:txBody>
      </p:sp>
      <p:sp>
        <p:nvSpPr>
          <p:cNvPr id="12" name="Shape 10"/>
          <p:cNvSpPr/>
          <p:nvPr/>
        </p:nvSpPr>
        <p:spPr>
          <a:xfrm>
            <a:off x="932688" y="269748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779776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FFFFFF"/>
                </a:solidFill>
              </a:rPr>
              <a:t>Review History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932688" y="3108960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173A78"/>
          </a:solidFill>
          <a:ln w="12700">
            <a:solidFill>
              <a:srgbClr val="173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191256"/>
            <a:ext cx="1115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FFFFFF"/>
                </a:solidFill>
              </a:rPr>
              <a:t>Glossary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26517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</a:rPr>
              <a:t>Overview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51760" y="18745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20299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4748B"/>
                </a:solidFill>
              </a:rPr>
              <a:t>Total Validations</a:t>
            </a:r>
            <a:endParaRPr lang="en-US" sz="590" dirty="0"/>
          </a:p>
        </p:txBody>
      </p:sp>
      <p:sp>
        <p:nvSpPr>
          <p:cNvPr id="19" name="Text 17"/>
          <p:cNvSpPr/>
          <p:nvPr/>
        </p:nvSpPr>
        <p:spPr>
          <a:xfrm>
            <a:off x="2761488" y="2221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128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9160" y="18745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0299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4748B"/>
                </a:solidFill>
              </a:rPr>
              <a:t>Pass Rate</a:t>
            </a:r>
            <a:endParaRPr lang="en-US" sz="590" dirty="0"/>
          </a:p>
        </p:txBody>
      </p:sp>
      <p:sp>
        <p:nvSpPr>
          <p:cNvPr id="22" name="Text 20"/>
          <p:cNvSpPr/>
          <p:nvPr/>
        </p:nvSpPr>
        <p:spPr>
          <a:xfrm>
            <a:off x="4818888" y="2221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72%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18745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20299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4748B"/>
                </a:solidFill>
              </a:rPr>
              <a:t>Fail Rate</a:t>
            </a:r>
            <a:endParaRPr lang="en-US" sz="590" dirty="0"/>
          </a:p>
        </p:txBody>
      </p:sp>
      <p:sp>
        <p:nvSpPr>
          <p:cNvPr id="25" name="Text 23"/>
          <p:cNvSpPr/>
          <p:nvPr/>
        </p:nvSpPr>
        <p:spPr>
          <a:xfrm>
            <a:off x="6876288" y="2221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11%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823960" y="18745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33688" y="20299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64748B"/>
                </a:solidFill>
              </a:rPr>
              <a:t>Agents Supported</a:t>
            </a:r>
            <a:endParaRPr lang="en-US" sz="590" dirty="0"/>
          </a:p>
        </p:txBody>
      </p:sp>
      <p:sp>
        <p:nvSpPr>
          <p:cNvPr id="28" name="Text 26"/>
          <p:cNvSpPr/>
          <p:nvPr/>
        </p:nvSpPr>
        <p:spPr>
          <a:xfrm>
            <a:off x="8933688" y="2221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51760" y="3063240"/>
            <a:ext cx="80924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3273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4"/>
                </a:solidFill>
              </a:rPr>
              <a:t>Recent Activity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52928" y="3675888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64748B"/>
                </a:solidFill>
              </a:rPr>
              <a:t>Time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4005072" y="367588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64748B"/>
                </a:solidFill>
              </a:rPr>
              <a:t>Agent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5230368" y="3675888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64748B"/>
                </a:solidFill>
              </a:rPr>
              <a:t>Record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6995160" y="367588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64748B"/>
                </a:solidFill>
              </a:rPr>
              <a:t>Verdict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8001000" y="367588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64748B"/>
                </a:solidFill>
              </a:rPr>
              <a:t>Tag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9235440" y="3675888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64748B"/>
                </a:solidFill>
              </a:rPr>
              <a:t>Confidence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2816352" y="3858768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397764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10:24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4005072" y="39776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Pipeline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5230368" y="3977640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Backend deployment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>
            <a:off x="6995160" y="39776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16A34A"/>
                </a:solidFill>
              </a:rPr>
              <a:t>PASS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8001000" y="39776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RCA_QUALITY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9235440" y="397764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0.92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2816352" y="425196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52928" y="4370832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10:08</a:t>
            </a:r>
            <a:endParaRPr lang="en-US" sz="580" dirty="0"/>
          </a:p>
        </p:txBody>
      </p:sp>
      <p:sp>
        <p:nvSpPr>
          <p:cNvPr id="46" name="Text 44"/>
          <p:cNvSpPr/>
          <p:nvPr/>
        </p:nvSpPr>
        <p:spPr>
          <a:xfrm>
            <a:off x="4005072" y="437083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FinOps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>
            <a:off x="5230368" y="4370832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DB rightsizing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6995160" y="437083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F59E0B"/>
                </a:solidFill>
              </a:rPr>
              <a:t>WARNING</a:t>
            </a:r>
            <a:endParaRPr lang="en-US" sz="580" dirty="0"/>
          </a:p>
        </p:txBody>
      </p:sp>
      <p:sp>
        <p:nvSpPr>
          <p:cNvPr id="49" name="Text 47"/>
          <p:cNvSpPr/>
          <p:nvPr/>
        </p:nvSpPr>
        <p:spPr>
          <a:xfrm>
            <a:off x="8001000" y="437083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COST_DATA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9235440" y="4370832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0.74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2816352" y="4645152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52928" y="476402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09:42</a:t>
            </a:r>
            <a:endParaRPr lang="en-US" sz="580" dirty="0"/>
          </a:p>
        </p:txBody>
      </p:sp>
      <p:sp>
        <p:nvSpPr>
          <p:cNvPr id="53" name="Text 51"/>
          <p:cNvSpPr/>
          <p:nvPr/>
        </p:nvSpPr>
        <p:spPr>
          <a:xfrm>
            <a:off x="4005072" y="476402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Infra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5230368" y="4764024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Host provisioning</a:t>
            </a:r>
            <a:endParaRPr lang="en-US" sz="580" dirty="0"/>
          </a:p>
        </p:txBody>
      </p:sp>
      <p:sp>
        <p:nvSpPr>
          <p:cNvPr id="55" name="Text 53"/>
          <p:cNvSpPr/>
          <p:nvPr/>
        </p:nvSpPr>
        <p:spPr>
          <a:xfrm>
            <a:off x="6995160" y="476402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C2626"/>
                </a:solidFill>
              </a:rPr>
              <a:t>FAIL</a:t>
            </a:r>
            <a:endParaRPr lang="en-US" sz="580" dirty="0"/>
          </a:p>
        </p:txBody>
      </p:sp>
      <p:sp>
        <p:nvSpPr>
          <p:cNvPr id="56" name="Text 54"/>
          <p:cNvSpPr/>
          <p:nvPr/>
        </p:nvSpPr>
        <p:spPr>
          <a:xfrm>
            <a:off x="8001000" y="476402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SECURITY_BASELINE</a:t>
            </a:r>
            <a:endParaRPr lang="en-US" sz="580" dirty="0"/>
          </a:p>
        </p:txBody>
      </p:sp>
      <p:sp>
        <p:nvSpPr>
          <p:cNvPr id="57" name="Text 55"/>
          <p:cNvSpPr/>
          <p:nvPr/>
        </p:nvSpPr>
        <p:spPr>
          <a:xfrm>
            <a:off x="9235440" y="476402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0.41</a:t>
            </a:r>
            <a:endParaRPr lang="en-US" sz="580" dirty="0"/>
          </a:p>
        </p:txBody>
      </p:sp>
      <p:sp>
        <p:nvSpPr>
          <p:cNvPr id="58" name="Text 56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Mockup: Run Validation page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The user chooses a stored row; the orchestrator auto-selects the correct tool.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107442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447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4"/>
                </a:solidFill>
              </a:rPr>
              <a:t>Run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Select Data Row / Record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05840" y="2212848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331720"/>
            <a:ext cx="3611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REC-IPA-002 | Infrastructure Provisioning | Host Provisioning Request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Comments / Focus Area (optional)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05840" y="3072384"/>
            <a:ext cx="3931920" cy="96012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24612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Check naming and approval quality.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05840" y="434340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480560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Run Validation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6099048" y="2286000"/>
            <a:ext cx="237744" cy="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32120" y="2029968"/>
            <a:ext cx="658368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2121408"/>
            <a:ext cx="5120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0F172A"/>
                </a:solidFill>
              </a:rPr>
              <a:t>Orchestrator</a:t>
            </a:r>
            <a:endParaRPr lang="en-US" sz="510" dirty="0"/>
          </a:p>
        </p:txBody>
      </p:sp>
      <p:sp>
        <p:nvSpPr>
          <p:cNvPr id="18" name="Shape 16"/>
          <p:cNvSpPr/>
          <p:nvPr/>
        </p:nvSpPr>
        <p:spPr>
          <a:xfrm>
            <a:off x="6967728" y="2286000"/>
            <a:ext cx="237744" cy="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2029968"/>
            <a:ext cx="658368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121408"/>
            <a:ext cx="5120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0F172A"/>
                </a:solidFill>
              </a:rPr>
              <a:t>Tool Node</a:t>
            </a:r>
            <a:endParaRPr lang="en-US" sz="510" dirty="0"/>
          </a:p>
        </p:txBody>
      </p:sp>
      <p:sp>
        <p:nvSpPr>
          <p:cNvPr id="21" name="Shape 19"/>
          <p:cNvSpPr/>
          <p:nvPr/>
        </p:nvSpPr>
        <p:spPr>
          <a:xfrm>
            <a:off x="7836408" y="2286000"/>
            <a:ext cx="237744" cy="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69480" y="2029968"/>
            <a:ext cx="658368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632" y="2121408"/>
            <a:ext cx="5120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0F172A"/>
                </a:solidFill>
              </a:rPr>
              <a:t>Rule Checks</a:t>
            </a:r>
            <a:endParaRPr lang="en-US" sz="510" dirty="0"/>
          </a:p>
        </p:txBody>
      </p:sp>
      <p:sp>
        <p:nvSpPr>
          <p:cNvPr id="24" name="Shape 22"/>
          <p:cNvSpPr/>
          <p:nvPr/>
        </p:nvSpPr>
        <p:spPr>
          <a:xfrm>
            <a:off x="8705088" y="2286000"/>
            <a:ext cx="237744" cy="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38160" y="2029968"/>
            <a:ext cx="658368" cy="502920"/>
          </a:xfrm>
          <a:prstGeom prst="roundRect">
            <a:avLst>
              <a:gd name="adj" fmla="val 1454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1312" y="2121408"/>
            <a:ext cx="5120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0F172A"/>
                </a:solidFill>
              </a:rPr>
              <a:t>LLM Judge</a:t>
            </a:r>
            <a:endParaRPr lang="en-US" sz="510" dirty="0"/>
          </a:p>
        </p:txBody>
      </p:sp>
      <p:sp>
        <p:nvSpPr>
          <p:cNvPr id="27" name="Shape 25"/>
          <p:cNvSpPr/>
          <p:nvPr/>
        </p:nvSpPr>
        <p:spPr>
          <a:xfrm>
            <a:off x="9573768" y="2286000"/>
            <a:ext cx="237744" cy="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06840" y="2029968"/>
            <a:ext cx="658368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9992" y="2121408"/>
            <a:ext cx="5120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0F172A"/>
                </a:solidFill>
              </a:rPr>
              <a:t>Synthesizer</a:t>
            </a:r>
            <a:endParaRPr lang="en-US" sz="510" dirty="0"/>
          </a:p>
        </p:txBody>
      </p:sp>
      <p:sp>
        <p:nvSpPr>
          <p:cNvPr id="30" name="Shape 28"/>
          <p:cNvSpPr/>
          <p:nvPr/>
        </p:nvSpPr>
        <p:spPr>
          <a:xfrm>
            <a:off x="9875520" y="2029968"/>
            <a:ext cx="658368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48672" y="2121408"/>
            <a:ext cx="5120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0F172A"/>
                </a:solidFill>
              </a:rPr>
              <a:t>PostgreSQL</a:t>
            </a:r>
            <a:endParaRPr lang="en-US" sz="510" dirty="0"/>
          </a:p>
        </p:txBody>
      </p:sp>
      <p:sp>
        <p:nvSpPr>
          <p:cNvPr id="32" name="Shape 30"/>
          <p:cNvSpPr/>
          <p:nvPr/>
        </p:nvSpPr>
        <p:spPr>
          <a:xfrm>
            <a:off x="5532120" y="2907792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FFBEB"/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1821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4"/>
                </a:solidFill>
              </a:rPr>
              <a:t>Result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29800" y="312724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9800" y="317296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WARNING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5760720" y="354787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64748B"/>
                </a:solidFill>
              </a:rPr>
              <a:t>Detected agent</a:t>
            </a:r>
            <a:endParaRPr lang="en-US" sz="570" dirty="0"/>
          </a:p>
        </p:txBody>
      </p:sp>
      <p:sp>
        <p:nvSpPr>
          <p:cNvPr id="37" name="Text 35"/>
          <p:cNvSpPr/>
          <p:nvPr/>
        </p:nvSpPr>
        <p:spPr>
          <a:xfrm>
            <a:off x="6812280" y="3547872"/>
            <a:ext cx="3520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Infrastructure Provisioning</a:t>
            </a:r>
            <a:endParaRPr lang="en-US" sz="570" dirty="0"/>
          </a:p>
        </p:txBody>
      </p:sp>
      <p:sp>
        <p:nvSpPr>
          <p:cNvPr id="38" name="Text 36"/>
          <p:cNvSpPr/>
          <p:nvPr/>
        </p:nvSpPr>
        <p:spPr>
          <a:xfrm>
            <a:off x="5760720" y="3767328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64748B"/>
                </a:solidFill>
              </a:rPr>
              <a:t>Selected tool</a:t>
            </a:r>
            <a:endParaRPr lang="en-US" sz="570" dirty="0"/>
          </a:p>
        </p:txBody>
      </p:sp>
      <p:sp>
        <p:nvSpPr>
          <p:cNvPr id="39" name="Text 37"/>
          <p:cNvSpPr/>
          <p:nvPr/>
        </p:nvSpPr>
        <p:spPr>
          <a:xfrm>
            <a:off x="6812280" y="3767328"/>
            <a:ext cx="3520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infrastructure_provisioning_tool</a:t>
            </a:r>
            <a:endParaRPr lang="en-US" sz="570" dirty="0"/>
          </a:p>
        </p:txBody>
      </p:sp>
      <p:sp>
        <p:nvSpPr>
          <p:cNvPr id="40" name="Text 38"/>
          <p:cNvSpPr/>
          <p:nvPr/>
        </p:nvSpPr>
        <p:spPr>
          <a:xfrm>
            <a:off x="5760720" y="3986784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64748B"/>
                </a:solidFill>
              </a:rPr>
              <a:t>Reason</a:t>
            </a:r>
            <a:endParaRPr lang="en-US" sz="570" dirty="0"/>
          </a:p>
        </p:txBody>
      </p:sp>
      <p:sp>
        <p:nvSpPr>
          <p:cNvPr id="41" name="Text 39"/>
          <p:cNvSpPr/>
          <p:nvPr/>
        </p:nvSpPr>
        <p:spPr>
          <a:xfrm>
            <a:off x="6812280" y="3986784"/>
            <a:ext cx="3520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Required tags present, approval is missing.</a:t>
            </a:r>
            <a:endParaRPr lang="en-US" sz="570" dirty="0"/>
          </a:p>
        </p:txBody>
      </p:sp>
      <p:sp>
        <p:nvSpPr>
          <p:cNvPr id="42" name="Text 40"/>
          <p:cNvSpPr/>
          <p:nvPr/>
        </p:nvSpPr>
        <p:spPr>
          <a:xfrm>
            <a:off x="5760720" y="4206240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64748B"/>
                </a:solidFill>
              </a:rPr>
              <a:t>Tag</a:t>
            </a:r>
            <a:endParaRPr lang="en-US" sz="570" dirty="0"/>
          </a:p>
        </p:txBody>
      </p:sp>
      <p:sp>
        <p:nvSpPr>
          <p:cNvPr id="43" name="Text 41"/>
          <p:cNvSpPr/>
          <p:nvPr/>
        </p:nvSpPr>
        <p:spPr>
          <a:xfrm>
            <a:off x="6812280" y="4206240"/>
            <a:ext cx="3520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HUMAN_APPROVAL</a:t>
            </a:r>
            <a:endParaRPr lang="en-US" sz="570" dirty="0"/>
          </a:p>
        </p:txBody>
      </p:sp>
      <p:sp>
        <p:nvSpPr>
          <p:cNvPr id="44" name="Text 42"/>
          <p:cNvSpPr/>
          <p:nvPr/>
        </p:nvSpPr>
        <p:spPr>
          <a:xfrm>
            <a:off x="5760720" y="4425696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64748B"/>
                </a:solidFill>
              </a:rPr>
              <a:t>Confidence</a:t>
            </a:r>
            <a:endParaRPr lang="en-US" sz="570" dirty="0"/>
          </a:p>
        </p:txBody>
      </p:sp>
      <p:sp>
        <p:nvSpPr>
          <p:cNvPr id="45" name="Text 43"/>
          <p:cNvSpPr/>
          <p:nvPr/>
        </p:nvSpPr>
        <p:spPr>
          <a:xfrm>
            <a:off x="6812280" y="4425696"/>
            <a:ext cx="3520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0.74</a:t>
            </a:r>
            <a:endParaRPr lang="en-US" sz="570" dirty="0"/>
          </a:p>
        </p:txBody>
      </p:sp>
      <p:sp>
        <p:nvSpPr>
          <p:cNvPr id="46" name="Text 44"/>
          <p:cNvSpPr/>
          <p:nvPr/>
        </p:nvSpPr>
        <p:spPr>
          <a:xfrm>
            <a:off x="5760720" y="4645152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b="1" dirty="0">
                <a:solidFill>
                  <a:srgbClr val="64748B"/>
                </a:solidFill>
              </a:rPr>
              <a:t>LLM Judge</a:t>
            </a:r>
            <a:endParaRPr lang="en-US" sz="570" dirty="0"/>
          </a:p>
        </p:txBody>
      </p:sp>
      <p:sp>
        <p:nvSpPr>
          <p:cNvPr id="47" name="Text 45"/>
          <p:cNvSpPr/>
          <p:nvPr/>
        </p:nvSpPr>
        <p:spPr>
          <a:xfrm>
            <a:off x="6812280" y="4645152"/>
            <a:ext cx="3520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dirty="0">
                <a:solidFill>
                  <a:srgbClr val="334155"/>
                </a:solidFill>
              </a:rPr>
              <a:t>WARNING / 0.78</a:t>
            </a:r>
            <a:endParaRPr lang="en-US" sz="570" dirty="0"/>
          </a:p>
        </p:txBody>
      </p:sp>
      <p:sp>
        <p:nvSpPr>
          <p:cNvPr id="48" name="Text 46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Mockup: Review History + Glossary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Review is read-only; Glossary communicates capabilities and POC boundaries.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36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Review History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901952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84248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334155"/>
                </a:solidFill>
              </a:rPr>
              <a:t>Verdict: All</a:t>
            </a:r>
            <a:endParaRPr lang="en-US" sz="560" dirty="0"/>
          </a:p>
        </p:txBody>
      </p:sp>
      <p:sp>
        <p:nvSpPr>
          <p:cNvPr id="9" name="Shape 7"/>
          <p:cNvSpPr/>
          <p:nvPr/>
        </p:nvSpPr>
        <p:spPr>
          <a:xfrm>
            <a:off x="2331720" y="1901952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984248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334155"/>
                </a:solidFill>
              </a:rPr>
              <a:t>Agent: All</a:t>
            </a:r>
            <a:endParaRPr lang="en-US" sz="560" dirty="0"/>
          </a:p>
        </p:txBody>
      </p:sp>
      <p:sp>
        <p:nvSpPr>
          <p:cNvPr id="11" name="Shape 9"/>
          <p:cNvSpPr/>
          <p:nvPr/>
        </p:nvSpPr>
        <p:spPr>
          <a:xfrm>
            <a:off x="3749040" y="1901952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1984248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334155"/>
                </a:solidFill>
              </a:rPr>
              <a:t>Search run or record</a:t>
            </a:r>
            <a:endParaRPr lang="en-US" sz="560" dirty="0"/>
          </a:p>
        </p:txBody>
      </p:sp>
      <p:sp>
        <p:nvSpPr>
          <p:cNvPr id="13" name="Shape 11"/>
          <p:cNvSpPr/>
          <p:nvPr/>
        </p:nvSpPr>
        <p:spPr>
          <a:xfrm>
            <a:off x="914400" y="2487168"/>
            <a:ext cx="4526280" cy="310896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59689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VR-128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2103120" y="259689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Pipeline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3154680" y="259689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16A34A"/>
                </a:solidFill>
              </a:rPr>
              <a:t>PASS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4206240" y="259689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0.92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914400" y="2926080"/>
            <a:ext cx="45262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035808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VR-127</a:t>
            </a:r>
            <a:endParaRPr lang="en-US" sz="580" dirty="0"/>
          </a:p>
        </p:txBody>
      </p:sp>
      <p:sp>
        <p:nvSpPr>
          <p:cNvPr id="20" name="Text 18"/>
          <p:cNvSpPr/>
          <p:nvPr/>
        </p:nvSpPr>
        <p:spPr>
          <a:xfrm>
            <a:off x="2103120" y="3035808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FinOps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3154680" y="3035808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59E0B"/>
                </a:solidFill>
              </a:rPr>
              <a:t>WARNING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4206240" y="3035808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0.74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914400" y="3364992"/>
            <a:ext cx="4526280" cy="310896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474720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VR-126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2103120" y="3474720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Infra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3154680" y="3474720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DC2626"/>
                </a:solidFill>
              </a:rPr>
              <a:t>FAIL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4206240" y="3474720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34155"/>
                </a:solidFill>
              </a:rPr>
              <a:t>0.41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914400" y="4160520"/>
            <a:ext cx="4526280" cy="1325880"/>
          </a:xfrm>
          <a:prstGeom prst="roundRect">
            <a:avLst>
              <a:gd name="adj" fmla="val 4138"/>
            </a:avLst>
          </a:prstGeom>
          <a:solidFill>
            <a:srgbClr val="EAF2FF"/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37083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4"/>
                </a:solidFill>
              </a:rPr>
              <a:t>Selected Run Detail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" y="46817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</a:rPr>
              <a:t>Routing decision | comments | rule results | LLM judgement | final result | audit timestamps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446520" y="1234440"/>
            <a:ext cx="50749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1536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Glossary &amp; Capabilities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48272" y="19659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8272" y="1965960"/>
            <a:ext cx="457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2130552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Automatic routing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9079992" y="19659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79992" y="1965960"/>
            <a:ext cx="457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08008" y="2130552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Rules + LLM Judge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748272" y="2715768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48272" y="2715768"/>
            <a:ext cx="457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2880360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Deterministic synthesis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9079992" y="2715768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79992" y="2715768"/>
            <a:ext cx="457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08008" y="2880360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PASS / WARNING / FAIL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748272" y="3465576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48272" y="3465576"/>
            <a:ext cx="457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363016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gpt-5-mini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9079992" y="3465576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79992" y="3465576"/>
            <a:ext cx="4572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08008" y="363016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PostgreSQL audit store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748272" y="4215384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48272" y="4215384"/>
            <a:ext cx="457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4379976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POC: no live actions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9079992" y="4215384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79992" y="4215384"/>
            <a:ext cx="457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08008" y="4379976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334155"/>
                </a:solidFill>
              </a:rPr>
              <a:t>Four supported agents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implementation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A pragmatic build path that matches the minimal-resource stack and avoids production-scale complexity.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72768"/>
            <a:ext cx="213055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1. 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1874520"/>
            <a:ext cx="213055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Settings, schema, seed data, repository layer, demo auth.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463040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572768"/>
            <a:ext cx="213055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2. Core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12464" y="1874520"/>
            <a:ext cx="213055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Pydantic models, orchestrator, rule engine, four tool nodes.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463040"/>
            <a:ext cx="54864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572768"/>
            <a:ext cx="213055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3. LLM + synthesis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47104" y="1874520"/>
            <a:ext cx="213055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gpt-5-mini Judge, MOCK_LLM mode, final synthesizer, persistence.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35440" y="14630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146304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1744" y="1572768"/>
            <a:ext cx="213055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F44"/>
                </a:solidFill>
              </a:rPr>
              <a:t>4. UI + tests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81744" y="1874520"/>
            <a:ext cx="213055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Streamlit pages, mock data flow, history/detail views, unit/integration tests.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1560" y="4206240"/>
            <a:ext cx="10012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4"/>
                </a:solidFill>
              </a:rPr>
              <a:t>Local demo posture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4462272"/>
            <a:ext cx="7269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DEMO_AUTH=true and MOCK_LLM=true allow local testing without Google credentials or live LLM access. PostgreSQL remains the system of record.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15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outcome for the POC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A demo-ready control tower that proves orchestration, validation, and traceability across the four agent domains.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54864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435608"/>
            <a:ext cx="30906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What success looks like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" y="1737360"/>
            <a:ext cx="30906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 user signs in, selects a row, runs validation, sees a defensible PASS/WARNING/FAIL result, and can review the full audit trail.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435608"/>
            <a:ext cx="30906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What is proven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81144" y="1737360"/>
            <a:ext cx="30906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Automatic routing, reusable rule engine, LLM judgement, deterministic synthesis, PostgreSQL persistence, and simple enterprise UX.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54864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435608"/>
            <a:ext cx="30906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44"/>
                </a:solidFill>
              </a:rPr>
              <a:t>What remains out of scope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38744" y="1737360"/>
            <a:ext cx="309067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Live connectors, real PRs, cloud changes, Jira writes, distributed queues, production observability, and enterprise RBAC.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51560" y="3977640"/>
            <a:ext cx="10012680" cy="1143000"/>
          </a:xfrm>
          <a:prstGeom prst="roundRect">
            <a:avLst>
              <a:gd name="adj" fmla="val 6400"/>
            </a:avLst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279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Design thesis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4279392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AFE"/>
                </a:solidFill>
              </a:rPr>
              <a:t>Keep the POC small, auditable, and deterministic where it matters. Use gpt-5-mini only for routing ambiguity and nuanced quality judgement.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Supervisor Agent Control Tower POC  |  HLD + LLD  |  16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Supervisor Agent Control Tower POC</dc:title>
  <dc:subject>Supervisor Agent Control Tower POC HLD and LLD</dc:subject>
  <dc:creator>OpenAI</dc:creator>
  <cp:lastModifiedBy>OpenAI</cp:lastModifiedBy>
  <cp:revision>1</cp:revision>
  <dcterms:created xsi:type="dcterms:W3CDTF">2026-06-30T13:41:54Z</dcterms:created>
  <dcterms:modified xsi:type="dcterms:W3CDTF">2026-06-30T13:41:54Z</dcterms:modified>
</cp:coreProperties>
</file>